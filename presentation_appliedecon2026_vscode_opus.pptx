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B3A6B"/>
                </a:solidFill>
              </a:rPr>
              <a:t>参加能力・標準化連合・非効率な国際標準化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2E6DB8"/>
                </a:solidFill>
              </a:rPr>
              <a:t>Participation Capacity, Standards Blocs, and
Inefficient International Standardization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926080"/>
            <a:ext cx="5760720" cy="27432"/>
          </a:xfrm>
          <a:prstGeom prst="rect">
            <a:avLst/>
          </a:prstGeom>
          <a:solidFill>
            <a:srgbClr val="D4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</a:rPr>
              <a:t>松木 遼太（独立研究者・松山市）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555555"/>
                </a:solidFill>
              </a:rPr>
              <a:t>Ryota Matsuki (Independent Researcher, Matsuyama)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55555"/>
                </a:solidFill>
              </a:rPr>
              <a:t>応用経済学会　2026年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4754880"/>
            <a:ext cx="5212080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4800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JEL: F13, L13, L15, O33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</a:rPr>
              <a:t>国際標準化  ●  ネットワーク外部性  ●  連合形成  ●  参加能力  ●  相互承認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Matsuki (2026) · 参加能力・標準化連合・非効率な国際標準化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19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本稿の問い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なぜ国際標準化は失敗するのか？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Matsuki (2026) · 参加能力・標準化連合・非効率な国際標準化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9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2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303520" cy="5166360"/>
          </a:xfrm>
          <a:prstGeom prst="rect">
            <a:avLst/>
          </a:prstGeom>
          <a:solidFill>
            <a:srgbClr val="F2F4F7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</a:rPr>
              <a:t>現実の謎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B3A6B"/>
                </a:solidFill>
              </a:rPr>
              <a:t>◆  多くの国が標準化体制に形式的に加盟</a:t>
            </a:r>
          </a:p>
          <a:p>
            <a:r>
              <a:rPr sz="1600" b="0">
                <a:solidFill>
                  <a:srgbClr val="555555"/>
                </a:solidFill>
              </a:rPr>
              <a:t>    ▷  しかし効果的な参加は一部の国に限られる</a:t>
            </a:r>
          </a:p>
          <a:p>
            <a:r>
              <a:rPr sz="1600" b="0">
                <a:solidFill>
                  <a:srgbClr val="555555"/>
                </a:solidFill>
              </a:rPr>
              <a:t>◆  ISO / WTO-TBT 枠組みの下でも
先進国と途上国の格差は残存</a:t>
            </a:r>
          </a:p>
          <a:p>
            <a:r>
              <a:rPr sz="1600" b="0">
                <a:solidFill>
                  <a:srgbClr val="FFFFFF"/>
                </a:solidFill>
              </a:rPr>
              <a:t>◆  </a:t>
            </a:r>
          </a:p>
          <a:p>
            <a:r>
              <a:rPr sz="1600" b="1">
                <a:solidFill>
                  <a:srgbClr val="BB2222"/>
                </a:solidFill>
              </a:rPr>
              <a:t>◆  「形式的加盟」≠「実効的参加」</a:t>
            </a:r>
          </a:p>
          <a:p>
            <a:r>
              <a:rPr sz="1600" b="0">
                <a:solidFill>
                  <a:srgbClr val="555555"/>
                </a:solidFill>
              </a:rPr>
              <a:t>    ▷  テスト・認証・適合評価能力の差異</a:t>
            </a:r>
          </a:p>
          <a:p>
            <a:r>
              <a:rPr sz="1600" b="0">
                <a:solidFill>
                  <a:srgbClr val="555555"/>
                </a:solidFill>
              </a:rPr>
              <a:t>    ▷  実装インフラの非対称性</a:t>
            </a:r>
          </a:p>
          <a:p>
            <a:r>
              <a:rPr sz="1600" b="0">
                <a:solidFill>
                  <a:srgbClr val="FFFFFF"/>
                </a:solidFill>
              </a:rPr>
              <a:t>◆  </a:t>
            </a:r>
          </a:p>
          <a:p>
            <a:r>
              <a:rPr sz="1600" b="1">
                <a:solidFill>
                  <a:srgbClr val="1B3A6B"/>
                </a:solidFill>
              </a:rPr>
              <a:t>◆  既存理論の空白</a:t>
            </a:r>
          </a:p>
          <a:p>
            <a:r>
              <a:rPr sz="1600" b="0">
                <a:solidFill>
                  <a:srgbClr val="555555"/>
                </a:solidFill>
              </a:rPr>
              <a:t>    ▷  多くのモデルは加盟 = 完全参加と仮定</a:t>
            </a:r>
          </a:p>
          <a:p>
            <a:r>
              <a:rPr sz="1600" b="0">
                <a:solidFill>
                  <a:srgbClr val="555555"/>
                </a:solidFill>
              </a:rPr>
              <a:t>    ▷  参加能力の非対称性を明示したモデルは少ない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143000"/>
            <a:ext cx="5943600" cy="5166360"/>
          </a:xfrm>
          <a:prstGeom prst="rect">
            <a:avLst/>
          </a:prstGeom>
          <a:solidFill>
            <a:srgbClr val="FEF9F0"/>
          </a:solidFill>
          <a:ln w="19050">
            <a:solidFill>
              <a:srgbClr val="D4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2344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6A17"/>
                </a:solidFill>
              </a:rPr>
              <a:t>本稿のリサーチクエスチョン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73736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3A6B"/>
                </a:solidFill>
              </a:rPr>
              <a:t>▶  参加能力が非対称な国々が国際標準化
体制を選択するとき：</a:t>
            </a:r>
          </a:p>
          <a:p>
            <a:r>
              <a:rPr sz="1000" b="0">
                <a:solidFill>
                  <a:srgbClr val="FFFFFF"/>
                </a:solidFill>
              </a:rPr>
              <a:t>▶  </a:t>
            </a:r>
          </a:p>
          <a:p>
            <a:r>
              <a:rPr sz="1700" b="1">
                <a:solidFill>
                  <a:srgbClr val="BB2222"/>
                </a:solidFill>
              </a:rPr>
              <a:t>▶  Q1: いつ「世界最適な IS」が
均衡で実現しないのか？</a:t>
            </a:r>
          </a:p>
          <a:p>
            <a:r>
              <a:rPr sz="1000" b="0">
                <a:solidFill>
                  <a:srgbClr val="FFFFFF"/>
                </a:solidFill>
              </a:rPr>
              <a:t>▶  </a:t>
            </a:r>
          </a:p>
          <a:p>
            <a:r>
              <a:rPr sz="1700" b="1">
                <a:solidFill>
                  <a:srgbClr val="2E6DB8"/>
                </a:solidFill>
              </a:rPr>
              <a:t>▶  Q2: ネットワーク外部性の強化は
常に完全調和を促進するか？</a:t>
            </a:r>
          </a:p>
          <a:p>
            <a:r>
              <a:rPr sz="1000" b="0">
                <a:solidFill>
                  <a:srgbClr val="FFFFFF"/>
                </a:solidFill>
              </a:rPr>
              <a:t>▶  </a:t>
            </a:r>
          </a:p>
          <a:p>
            <a:r>
              <a:rPr sz="1700" b="1">
                <a:solidFill>
                  <a:srgbClr val="1A7A4A"/>
                </a:solidFill>
              </a:rPr>
              <a:t>▶  Q3: 能力構築投資・条件付き移転は
断片化を解消できるか？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先行研究との関係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Matsuki (2026) · 参加能力・標準化連合・非効率な国際標準化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9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3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2286000" cy="411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241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領域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005840"/>
            <a:ext cx="4114800" cy="411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02412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主要文献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1005840"/>
            <a:ext cx="5029200" cy="411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024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本稿との関係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143000"/>
            <a:ext cx="2286000" cy="841248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6040" y="1143000"/>
            <a:ext cx="4114800" cy="841248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66560" y="1143000"/>
            <a:ext cx="5029200" cy="841248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1197864"/>
            <a:ext cx="21762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産業組織 / 互換性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60904" y="1197864"/>
            <a:ext cx="4005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Farrell &amp; Saloner (1985)
Katz &amp; Shapiro (1985, 1986)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1197864"/>
            <a:ext cx="49194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ネットワーク外部性・調整失敗
互換性の厚生効果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057400"/>
            <a:ext cx="22860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06040" y="2057400"/>
            <a:ext cx="4114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2057400"/>
            <a:ext cx="50292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2112264"/>
            <a:ext cx="21762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国際標準化 / 貿易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60904" y="2112264"/>
            <a:ext cx="4005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Gandal &amp; Shy (2001)
Barrett &amp; Yang (2001)
Costinot (2008)・Klimenko (2009)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4" y="2112264"/>
            <a:ext cx="49194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標準化連合・戦略的非互換性
相互承認・制度設計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971800"/>
            <a:ext cx="2286000" cy="841248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06040" y="2971800"/>
            <a:ext cx="4114800" cy="841248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66560" y="2971800"/>
            <a:ext cx="5029200" cy="841248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" y="3026664"/>
            <a:ext cx="21762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連合形成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60904" y="3026664"/>
            <a:ext cx="4005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Riezman (1985)・Krishna (1998)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21424" y="3026664"/>
            <a:ext cx="49194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関税同盟のインサイダー-アウトサイダー構造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886200"/>
            <a:ext cx="22860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06040" y="3886200"/>
            <a:ext cx="4114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66560" y="3886200"/>
            <a:ext cx="50292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" y="3941064"/>
            <a:ext cx="21762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標準化の実証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60904" y="3941064"/>
            <a:ext cx="4005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Clougherty &amp; Grajek (2014)
Schmidt &amp; Steingress (2022)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21424" y="3941064"/>
            <a:ext cx="49194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ISO 9000・標準調和が貿易を促進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800600"/>
            <a:ext cx="2286000" cy="841248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06040" y="4800600"/>
            <a:ext cx="4114800" cy="841248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66560" y="4800600"/>
            <a:ext cx="5029200" cy="841248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9184" y="4855464"/>
            <a:ext cx="21762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標準化参加・イノベーション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60904" y="4855464"/>
            <a:ext cx="4005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Blind et al. (2017, 2022, 2023)
Blind &amp; Münch (2024)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21424" y="4855464"/>
            <a:ext cx="49194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参加決定の制度的要因
イノベーション政策との連関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760720"/>
            <a:ext cx="11612880" cy="594360"/>
          </a:xfrm>
          <a:prstGeom prst="rect">
            <a:avLst/>
          </a:prstGeom>
          <a:solidFill>
            <a:srgbClr val="FEF3E0"/>
          </a:solidFill>
          <a:ln w="19050">
            <a:solidFill>
              <a:srgbClr val="D4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本稿の新規性: 「参加能力の非対称性」を明示的に組み込み、形式的加盟と実効的参加の乖離が標準化連合の形成・厚生に与える影響を分析する最初の理論モデル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モデルの概要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三カ国・三制度・クールノー競争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Matsuki (2026) · 参加能力・標準化連合・非効率な国際標準化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9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4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029200" cy="5120640"/>
          </a:xfrm>
          <a:prstGeom prst="rect">
            <a:avLst/>
          </a:prstGeom>
          <a:solidFill>
            <a:srgbClr val="F2F4F7"/>
          </a:solidFill>
          <a:ln w="1524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</a:rPr>
              <a:t>基本構造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3A6B"/>
                </a:solidFill>
              </a:rPr>
              <a:t>◆  国・企業: A, B, C　各国に企業1社</a:t>
            </a:r>
          </a:p>
          <a:p>
            <a:r>
              <a:rPr sz="1500" b="0">
                <a:solidFill>
                  <a:srgbClr val="555555"/>
                </a:solidFill>
              </a:rPr>
              <a:t>    ▷  市場分離・クールノー競争（各市場）</a:t>
            </a:r>
          </a:p>
          <a:p>
            <a:r>
              <a:rPr sz="800" b="0">
                <a:solidFill>
                  <a:srgbClr val="FFFFFF"/>
                </a:solidFill>
              </a:rPr>
              <a:t>◆  </a:t>
            </a:r>
          </a:p>
          <a:p>
            <a:r>
              <a:rPr sz="1500" b="1">
                <a:solidFill>
                  <a:srgbClr val="1B3A6B"/>
                </a:solidFill>
              </a:rPr>
              <a:t>◆  費用構造</a:t>
            </a:r>
          </a:p>
          <a:p>
            <a:r>
              <a:rPr sz="1500" b="0">
                <a:solidFill>
                  <a:srgbClr val="555555"/>
                </a:solidFill>
              </a:rPr>
              <a:t>    ▷  国内販売: 限界費用 = 0</a:t>
            </a:r>
          </a:p>
          <a:p>
            <a:r>
              <a:rPr sz="1500" b="0">
                <a:solidFill>
                  <a:srgbClr val="BB2222"/>
                </a:solidFill>
              </a:rPr>
              <a:t>    ▷  海外販売（非承認圏）: c + τᵢ</a:t>
            </a:r>
          </a:p>
          <a:p>
            <a:r>
              <a:rPr sz="1500" b="0">
                <a:solidFill>
                  <a:srgbClr val="D46A17"/>
                </a:solidFill>
              </a:rPr>
              <a:t>    ▷  海外販売（承認圏内）:     τᵢ</a:t>
            </a:r>
          </a:p>
          <a:p>
            <a:r>
              <a:rPr sz="800" b="0">
                <a:solidFill>
                  <a:srgbClr val="FFFFFF"/>
                </a:solidFill>
              </a:rPr>
              <a:t>◆  </a:t>
            </a:r>
          </a:p>
          <a:p>
            <a:r>
              <a:rPr sz="1500" b="1">
                <a:solidFill>
                  <a:srgbClr val="1B3A6B"/>
                </a:solidFill>
              </a:rPr>
              <a:t>◆  参加能力 θₖ ∈ [0,1]</a:t>
            </a:r>
          </a:p>
          <a:p>
            <a:r>
              <a:rPr sz="1500" b="0">
                <a:solidFill>
                  <a:srgbClr val="555555"/>
                </a:solidFill>
              </a:rPr>
              <a:t>    ▷  残余コンプライアンス費用: τₖ = μ(1−θₖ)</a:t>
            </a:r>
          </a:p>
          <a:p>
            <a:r>
              <a:rPr sz="1500" b="0">
                <a:solidFill>
                  <a:srgbClr val="555555"/>
                </a:solidFill>
              </a:rPr>
              <a:t>    ▷  θA = θB &gt; θC（A,B が高能力）</a:t>
            </a:r>
          </a:p>
          <a:p>
            <a:r>
              <a:rPr sz="800" b="0">
                <a:solidFill>
                  <a:srgbClr val="FFFFFF"/>
                </a:solidFill>
              </a:rPr>
              <a:t>◆  </a:t>
            </a:r>
          </a:p>
          <a:p>
            <a:r>
              <a:rPr sz="1500" b="1">
                <a:solidFill>
                  <a:srgbClr val="1B3A6B"/>
                </a:solidFill>
              </a:rPr>
              <a:t>◆  ネットワーク外部性 v ≥ 0</a:t>
            </a:r>
          </a:p>
          <a:p>
            <a:r>
              <a:rPr sz="1500" b="0">
                <a:solidFill>
                  <a:srgbClr val="555555"/>
                </a:solidFill>
              </a:rPr>
              <a:t>    ▷  需要: pᵢₖ = 1 − Qₖ + v·Bᵢ</a:t>
            </a:r>
          </a:p>
          <a:p>
            <a:r>
              <a:rPr sz="1500" b="0">
                <a:solidFill>
                  <a:srgbClr val="555555"/>
                </a:solidFill>
              </a:rPr>
              <a:t>    ▷  Bᵢ = 共通標準参加国の総販売量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143000"/>
            <a:ext cx="6309360" cy="5120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1234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</a:rPr>
              <a:t>三つの標準化制度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1691640"/>
            <a:ext cx="6035040" cy="1463040"/>
          </a:xfrm>
          <a:prstGeom prst="rect">
            <a:avLst/>
          </a:prstGeom>
          <a:solidFill>
            <a:srgbClr val="F8F8F8"/>
          </a:solidFill>
          <a:ln w="25400">
            <a:solidFill>
              <a:srgbClr val="BB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0" y="1691640"/>
            <a:ext cx="640080" cy="1463040"/>
          </a:xfrm>
          <a:prstGeom prst="rect">
            <a:avLst/>
          </a:prstGeom>
          <a:solidFill>
            <a:srgbClr val="BB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21488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373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B2222"/>
                </a:solidFill>
              </a:rPr>
              <a:t>標準戦争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全国が独自標準を維持
外国販売費用: c + τᵢ
ネットワーク利益なし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3246120"/>
            <a:ext cx="6035040" cy="1463040"/>
          </a:xfrm>
          <a:prstGeom prst="rect">
            <a:avLst/>
          </a:prstGeom>
          <a:solidFill>
            <a:srgbClr val="F8F8F8"/>
          </a:solidFill>
          <a:ln w="25400">
            <a:solidFill>
              <a:srgbClr val="D4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0" y="3246120"/>
            <a:ext cx="640080" cy="1463040"/>
          </a:xfrm>
          <a:prstGeom prst="rect">
            <a:avLst/>
          </a:prstGeom>
          <a:solidFill>
            <a:srgbClr val="D4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3703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918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6A17"/>
                </a:solidFill>
              </a:rPr>
              <a:t>二カ国標準化連合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033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A-B が相互承認、C は除外
A-B 内: τᵢ のみ、C との取引: c + τᵢ
A-B 内のネットワーク利益あり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4800600"/>
            <a:ext cx="6035040" cy="1463040"/>
          </a:xfrm>
          <a:prstGeom prst="rect">
            <a:avLst/>
          </a:prstGeom>
          <a:solidFill>
            <a:srgbClr val="F8F8F8"/>
          </a:solidFill>
          <a:ln w="254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0" y="4800600"/>
            <a:ext cx="640080" cy="146304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0" y="5257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846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7A4A"/>
                </a:solidFill>
              </a:rPr>
              <a:t>完全国際標準化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2578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全国が相互承認
全海外販売: τᵢ のみ
全体でネットワーク利益共有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ゲームの時系列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5段階・バックワード・インダクション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Matsuki (2026) · 参加能力・標準化連合・非効率な国際標準化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9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5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944368"/>
            <a:ext cx="11612880" cy="54864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194560" cy="1371600"/>
          </a:xfrm>
          <a:prstGeom prst="rect">
            <a:avLst/>
          </a:prstGeom>
          <a:solidFill>
            <a:srgbClr val="2E6DB8"/>
          </a:solidFill>
          <a:ln>
            <a:solidFill>
              <a:srgbClr val="2E6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Stage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737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参加能力投資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46120"/>
            <a:ext cx="2194560" cy="2560320"/>
          </a:xfrm>
          <a:prstGeom prst="rect">
            <a:avLst/>
          </a:prstGeom>
          <a:solidFill>
            <a:srgbClr val="F2F4F7"/>
          </a:solidFill>
          <a:ln w="15240">
            <a:solidFill>
              <a:srgbClr val="2E6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3291840"/>
            <a:ext cx="20848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各政府が Iₖ を選択（投資費用: η/2·Iₖ²）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1325880"/>
            <a:ext cx="2194560" cy="1371600"/>
          </a:xfrm>
          <a:prstGeom prst="rect">
            <a:avLst/>
          </a:prstGeom>
          <a:solidFill>
            <a:srgbClr val="1B3A6B"/>
          </a:solidFill>
          <a:ln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Stage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737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A-B 連合形成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3246120"/>
            <a:ext cx="2194560" cy="2560320"/>
          </a:xfrm>
          <a:prstGeom prst="rect">
            <a:avLst/>
          </a:prstGeom>
          <a:solidFill>
            <a:srgbClr val="F2F4F7"/>
          </a:solidFill>
          <a:ln w="1524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52344" y="3291840"/>
            <a:ext cx="20848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A・B が二カ国標準化連合を結成するか決定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325880"/>
            <a:ext cx="2194560" cy="1371600"/>
          </a:xfrm>
          <a:prstGeom prst="rect">
            <a:avLst/>
          </a:prstGeom>
          <a:solidFill>
            <a:srgbClr val="1B3A6B"/>
          </a:solidFill>
          <a:ln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Stage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1737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 の加盟申請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3246120"/>
            <a:ext cx="2194560" cy="2560320"/>
          </a:xfrm>
          <a:prstGeom prst="rect">
            <a:avLst/>
          </a:prstGeom>
          <a:solidFill>
            <a:srgbClr val="F2F4F7"/>
          </a:solidFill>
          <a:ln w="1524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84064" y="3291840"/>
            <a:ext cx="20848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連合が形成された場合、C が加盟を申請するか決定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0920" y="1325880"/>
            <a:ext cx="2194560" cy="1371600"/>
          </a:xfrm>
          <a:prstGeom prst="rect">
            <a:avLst/>
          </a:prstGeom>
          <a:solidFill>
            <a:srgbClr val="1B3A6B"/>
          </a:solidFill>
          <a:ln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Stage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1737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A・B による承認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60920" y="3246120"/>
            <a:ext cx="2194560" cy="2560320"/>
          </a:xfrm>
          <a:prstGeom prst="rect">
            <a:avLst/>
          </a:prstGeom>
          <a:solidFill>
            <a:srgbClr val="F2F4F7"/>
          </a:solidFill>
          <a:ln w="1524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15784" y="3291840"/>
            <a:ext cx="20848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C が申請した場合、A・B が承認するか同時決定
（両者が承認 → IS、一方でも否決 → SU）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92640" y="1325880"/>
            <a:ext cx="2194560" cy="1371600"/>
          </a:xfrm>
          <a:prstGeom prst="rect">
            <a:avLst/>
          </a:prstGeom>
          <a:solidFill>
            <a:srgbClr val="D46A17"/>
          </a:solidFill>
          <a:ln>
            <a:solidFill>
              <a:srgbClr val="D4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Stage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企業のクールノー競争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3246120"/>
            <a:ext cx="2194560" cy="2560320"/>
          </a:xfrm>
          <a:prstGeom prst="rect">
            <a:avLst/>
          </a:prstGeom>
          <a:solidFill>
            <a:srgbClr val="F2F4F7"/>
          </a:solidFill>
          <a:ln w="15240">
            <a:solidFill>
              <a:srgbClr val="D4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47504" y="3291840"/>
            <a:ext cx="20848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各企業が全市場で数量を同時選択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80744" y="2889504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12464" y="2889504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44184" y="2889504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75904" y="2889504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707624" y="2889504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5897880"/>
            <a:ext cx="11612880" cy="457200"/>
          </a:xfrm>
          <a:prstGeom prst="rect">
            <a:avLst/>
          </a:prstGeom>
          <a:solidFill>
            <a:srgbClr val="E8F4FF"/>
          </a:solidFill>
          <a:ln w="12700">
            <a:solidFill>
              <a:srgbClr val="2E6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9253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B8"/>
                </a:solidFill>
              </a:rPr>
              <a:t>分析の焦点: 「A-B 先行」を benchmark として、参加能力の非対称性が C の加盟可否に与える影響を分析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企業均衡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三制度下のクールノー閉形式解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Matsuki (2026) · 参加能力・標準化連合・非効率な国際標準化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9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</a:rPr>
              <a:t>補題 1–3: 各制度下の均衡数量・利潤・厚生の閉形式解が存在する（v ∈ [0, 2/7)）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54480"/>
            <a:ext cx="3566160" cy="4754880"/>
          </a:xfrm>
          <a:prstGeom prst="rect">
            <a:avLst/>
          </a:prstGeom>
          <a:solidFill>
            <a:srgbClr val="FFF0F0"/>
          </a:solidFill>
          <a:ln w="19050">
            <a:solidFill>
              <a:srgbClr val="BB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276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B2222"/>
                </a:solidFill>
              </a:rPr>
              <a:t>SW（標準戦争）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各企業が独立：
外国費用: c + τᵢ
ネットワーク利益: なし
均衡: 標準クールノー
3財差別化モデル
（各市場独立に解く）
→ v が大きくなっても
　各国が孤立するため
　純粋な競争圧力のみ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554480"/>
            <a:ext cx="3749039" cy="4754880"/>
          </a:xfrm>
          <a:prstGeom prst="rect">
            <a:avLst/>
          </a:prstGeom>
          <a:solidFill>
            <a:srgbClr val="FFF5E6"/>
          </a:solidFill>
          <a:ln w="19050">
            <a:solidFill>
              <a:srgbClr val="D4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6A17"/>
                </a:solidFill>
              </a:rPr>
              <a:t>SU（A-B 連合）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0116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A-B ブロック内でネットワーク
外部性を共有：
A-B 間: 費用 τᵢ のみ
A(B)-C 間: c + τᵢ
均衡: A-B は互いに需要が
上方シフト、C は孤立
インストールベース:
B_{AB}^{SU} = A-B の総販売量
→ τ_C が高いほど C の
　競争力は低下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554480"/>
            <a:ext cx="3749039" cy="4754880"/>
          </a:xfrm>
          <a:prstGeom prst="rect">
            <a:avLst/>
          </a:prstGeom>
          <a:solidFill>
            <a:srgbClr val="EEF7EE"/>
          </a:solidFill>
          <a:ln w="190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7A4A"/>
                </a:solidFill>
              </a:rPr>
              <a:t>IS（完全国際標準化）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116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全国が単一ネットワーク：
全海外販売: 費用 τᵢ のみ
インストールベース:
B_{ABC}^{IS} = 全世界の総販売量
均衡: 全企業の需要が
上方シフト（量は各 τᵢ に依存）
→ τ_C が高いほど C の
　IS への貢献は小さく、
　A-B への競争圧力は増大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6400800"/>
            <a:ext cx="1161288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政府の制度選択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命題 1：均衡制度の特徴付け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Matsuki (2026) · 参加能力・標準化連合・非効率な国際標準化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9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7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303520" cy="3200400"/>
          </a:xfrm>
          <a:prstGeom prst="rect">
            <a:avLst/>
          </a:prstGeom>
          <a:solidFill>
            <a:srgbClr val="F2F4F7"/>
          </a:solidFill>
          <a:ln w="1524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6B"/>
                </a:solidFill>
              </a:rPr>
              <a:t>鍵となる厚生差分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ΔᴬI  = Ŵᴬ(IS) − Ŵᴬ(SU)
       A 国が IS を SU より好む程度
ΔᶜI  = Ŵᶜ(IS) − Ŵᶜ(SU)
       C 国が加盟を希望する程度
ΔᴬSU = Ŵᴬ(SU) − Ŵᴬ(SW)
       A 国が SU 連合結成を希望する程度
ΔᴬIS = Ŵᴬ(IS) − Ŵᴬ(SW)
       IS 直接参加を SW より好む程度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097280"/>
            <a:ext cx="6035040" cy="5074920"/>
          </a:xfrm>
          <a:prstGeom prst="rect">
            <a:avLst/>
          </a:prstGeom>
          <a:solidFill>
            <a:srgbClr val="EEF0FF"/>
          </a:solidFill>
          <a:ln w="254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17043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</a:rPr>
              <a:t>命題 1: 均衡制度（バックワード・インダクション）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002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B3A6B"/>
                </a:solidFill>
              </a:rPr>
              <a:t>IS が均衡</a:t>
            </a:r>
          </a:p>
          <a:p>
            <a:r>
              <a:rPr sz="1400" b="0" i="1">
                <a:solidFill>
                  <a:srgbClr val="1A7A4A"/>
                </a:solidFill>
              </a:rPr>
              <a:t>ΔᶜI ≥ 0 かつ ΔᴬI ≥ 0 かつ ΔᴬIS ≥ 0</a:t>
            </a:r>
          </a:p>
          <a:p>
            <a:r>
              <a:rPr sz="1300" b="0" i="0">
                <a:solidFill>
                  <a:srgbClr val="555555"/>
                </a:solidFill>
              </a:rPr>
              <a:t>C が加盟申請 → A・B が承認 → A・B が連合形成</a:t>
            </a:r>
          </a:p>
          <a:p>
            <a:r>
              <a:rPr sz="800" b="0" i="0">
                <a:solidFill>
                  <a:srgbClr val="FFFFFF"/>
                </a:solidFill>
              </a:rPr>
              <a:t/>
            </a:r>
          </a:p>
          <a:p>
            <a:r>
              <a:rPr sz="1500" b="1" i="0">
                <a:solidFill>
                  <a:srgbClr val="1B3A6B"/>
                </a:solidFill>
              </a:rPr>
              <a:t>SU が均衡</a:t>
            </a:r>
          </a:p>
          <a:p>
            <a:r>
              <a:rPr sz="1400" b="0" i="1">
                <a:solidFill>
                  <a:srgbClr val="D46A17"/>
                </a:solidFill>
              </a:rPr>
              <a:t>(ΔᶜI &lt; 0 または ΔᴬI &lt; 0) かつ ΔᴬSU ≥ 0</a:t>
            </a:r>
          </a:p>
          <a:p>
            <a:r>
              <a:rPr sz="1300" b="0" i="0">
                <a:solidFill>
                  <a:srgbClr val="555555"/>
                </a:solidFill>
              </a:rPr>
              <a:t>加盟申請せず or 加盟拒否 → しかし A-B 連合は形成</a:t>
            </a:r>
          </a:p>
          <a:p>
            <a:r>
              <a:rPr sz="800" b="0" i="0">
                <a:solidFill>
                  <a:srgbClr val="FFFFFF"/>
                </a:solidFill>
              </a:rPr>
              <a:t/>
            </a:r>
          </a:p>
          <a:p>
            <a:r>
              <a:rPr sz="1500" b="1" i="0">
                <a:solidFill>
                  <a:srgbClr val="1B3A6B"/>
                </a:solidFill>
              </a:rPr>
              <a:t>SW が均衡</a:t>
            </a:r>
          </a:p>
          <a:p>
            <a:r>
              <a:rPr sz="1400" b="0" i="1">
                <a:solidFill>
                  <a:srgbClr val="BB2222"/>
                </a:solidFill>
              </a:rPr>
              <a:t>その他の場合</a:t>
            </a:r>
          </a:p>
          <a:p>
            <a:r>
              <a:rPr sz="1300" b="0" i="0">
                <a:solidFill>
                  <a:srgbClr val="555555"/>
                </a:solidFill>
              </a:rPr>
              <a:t>A-B も連合を結成しない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389120"/>
            <a:ext cx="5303520" cy="1783080"/>
          </a:xfrm>
          <a:prstGeom prst="rect">
            <a:avLst/>
          </a:prstGeom>
          <a:solidFill>
            <a:srgbClr val="FFF0E0"/>
          </a:solidFill>
          <a:ln w="19050">
            <a:solidFill>
              <a:srgbClr val="D4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622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6A17"/>
                </a:solidFill>
              </a:rPr>
              <a:t>Stage 3 の核心: C の加盟を A・B が受け入れるか？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920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IS への移行は:
  (+) 共通インストールベースを拡大（ネットワーク効果）
  (−) A・B 市場での競争激化（C の参入）
τ_C が大きいほど: (+) 小さく (−) 変わらず → 拒否へ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主要結果 1: 世界最適と均衡の乖離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命題 2: IS が世界最適でも均衡で実現しない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Matsuki (2026) · 参加能力・標準化連合・非効率な国際標準化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9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8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11612880" cy="1280160"/>
          </a:xfrm>
          <a:prstGeom prst="rect">
            <a:avLst/>
          </a:prstGeom>
          <a:solidFill>
            <a:srgbClr val="FFECEC"/>
          </a:solidFill>
          <a:ln w="25400">
            <a:solidFill>
              <a:srgbClr val="BB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B2222"/>
                </a:solidFill>
              </a:rPr>
              <a:t>命題 2（世界厚生と均衡制度の乖離）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727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パラメータ領域 Ω ⊂ 𝒫 が（非退化区間として）存在し、
Ŵ(IS) &gt; max{Ŵ(SU), Ŵ(SW)} であるにもかかわらず、均衡制度が SU となる。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14600"/>
            <a:ext cx="5669280" cy="3383280"/>
          </a:xfrm>
          <a:prstGeom prst="rect">
            <a:avLst/>
          </a:prstGeom>
          <a:solidFill>
            <a:srgbClr val="F2F4F7"/>
          </a:solidFill>
          <a:ln w="1524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786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6B"/>
                </a:solidFill>
              </a:rPr>
              <a:t>ベンチマーク数値例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992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6DB8"/>
                </a:solidFill>
              </a:rPr>
              <a:t>(v, c, τ, τ_C) = (0.05, 0.05, 0.02, 0.18)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29000"/>
            <a:ext cx="2011680" cy="411480"/>
          </a:xfrm>
          <a:prstGeom prst="rect">
            <a:avLst/>
          </a:prstGeom>
          <a:solidFill>
            <a:srgbClr val="BB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56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Ŵ(SW)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4564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B2222"/>
                </a:solidFill>
              </a:rPr>
              <a:t>1.24426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4564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最低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2011680" cy="411480"/>
          </a:xfrm>
          <a:prstGeom prst="rect">
            <a:avLst/>
          </a:prstGeom>
          <a:solidFill>
            <a:srgbClr val="D4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9593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Ŵ(SU)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95935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6A17"/>
                </a:solidFill>
              </a:rPr>
              <a:t>1.54410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39593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均衡 ← ここが実現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34840"/>
            <a:ext cx="2011680" cy="41148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4622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Ŵ(IS)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46227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4A"/>
                </a:solidFill>
              </a:rPr>
              <a:t>1.67046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44622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最高 ← 世界最適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920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ΔᴬI ≈ −0.00076 &lt; 0  →  A・B は C の加盟を拒否
ΔᴬSU ≈ 0.15189 &gt; 0  →  A-B 連合は形成される
結果: 均衡 = SU（IS が世界最適なのに）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2514600"/>
            <a:ext cx="5669280" cy="3383280"/>
          </a:xfrm>
          <a:prstGeom prst="rect">
            <a:avLst/>
          </a:prstGeom>
          <a:solidFill>
            <a:srgbClr val="FEF9F0"/>
          </a:solidFill>
          <a:ln w="19050">
            <a:solidFill>
              <a:srgbClr val="D4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5786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6A17"/>
                </a:solidFill>
              </a:rPr>
              <a:t>非退化区間での乖離 — τ_C の閾値分析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0175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(v, c, τ) = (0.05, 0.05, 0.02) を固定し τ_C を変化
ΔᴬI(τ_C) = 0 の解:  τ_C† ≈ 0.1751
全 τ_C ∈ (τ_C†, τ̄_C^adm) にわたって:
  ● 均衡 = SU
  ● Ŵ(IS) &gt; Ŵ(SU)（世界最適は IS）
  → 乖離は一点ではなく非退化区間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989320"/>
            <a:ext cx="11612880" cy="594360"/>
          </a:xfrm>
          <a:prstGeom prst="rect">
            <a:avLst/>
          </a:prstGeom>
          <a:solidFill>
            <a:srgbClr val="EEF0FF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0167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3A6B"/>
                </a:solidFill>
              </a:rPr>
              <a:t>直観: C の参加能力が低いと、加盟後も C の市場存在感が小さく、
A・B への競争激化に比べてネットワーク利益の増加が小さいため、A・B は加盟を拒否する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主要結果 2: ネットワーク効果のパラドックス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命題 3: 強いネットワーク効果が排除的連合を安定化する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Matsuki (2026) · 参加能力・標準化連合・非効率な国際標準化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9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9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11612880" cy="1280160"/>
          </a:xfrm>
          <a:prstGeom prst="rect">
            <a:avLst/>
          </a:prstGeom>
          <a:solidFill>
            <a:srgbClr val="FFECEC"/>
          </a:solidFill>
          <a:ln w="25400">
            <a:solidFill>
              <a:srgbClr val="BB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B2222"/>
                </a:solidFill>
              </a:rPr>
              <a:t>命題 3（ネットワーク効果は完全調和を単調には促進しない）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727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参数 (c, τ, τ_C) と 0 ≤ v' &lt; v'' &lt; 2/7 が存在し、
v' では均衡 = IS であるが、v'' では均衡 = SU（排除的連合）となる。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14600"/>
            <a:ext cx="5669280" cy="3017520"/>
          </a:xfrm>
          <a:prstGeom prst="rect">
            <a:avLst/>
          </a:prstGeom>
          <a:solidFill>
            <a:srgbClr val="F2F4F7"/>
          </a:solidFill>
          <a:ln w="1524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786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6B"/>
                </a:solidFill>
              </a:rPr>
              <a:t>比較数値例  (c, τ, τ_C) = (0.05, 0, 0.15)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63240"/>
            <a:ext cx="2377440" cy="2286000"/>
          </a:xfrm>
          <a:prstGeom prst="rect">
            <a:avLst/>
          </a:prstGeom>
          <a:solidFill>
            <a:srgbClr val="1A7A4A"/>
          </a:solidFill>
          <a:ln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0906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v' = 0.04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47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均衡 = 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50208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ΔᴬI ≈ +0.004 &gt; 0
ΔᶜI ≈ +0.113 &gt; 0
ΔᴬIS ≈ +0.127 &gt;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3063240"/>
            <a:ext cx="2377440" cy="2286000"/>
          </a:xfrm>
          <a:prstGeom prst="rect">
            <a:avLst/>
          </a:prstGeom>
          <a:solidFill>
            <a:srgbClr val="D46A17"/>
          </a:solidFill>
          <a:ln>
            <a:solidFill>
              <a:srgbClr val="D4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30906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v'' = 0.055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547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均衡 = SU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950208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ΔᴬI ≈ −0.0003 &lt; 0
ΔᶜI ≈ +0.150 &gt; 0
ΔᴬSU ≈ +0.173 &gt; 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514600"/>
            <a:ext cx="5669280" cy="3017520"/>
          </a:xfrm>
          <a:prstGeom prst="rect">
            <a:avLst/>
          </a:prstGeom>
          <a:solidFill>
            <a:srgbClr val="FEF9F0"/>
          </a:solidFill>
          <a:ln w="19050">
            <a:solidFill>
              <a:srgbClr val="D4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5786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6A17"/>
                </a:solidFill>
              </a:rPr>
              <a:t>v の閾値分析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01752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(c, τ, τ_C) = (0.05, 0, 0.15) を固定し v を変化
ΔᴬI(v) = 0 の解:  v† ≈ 0.0544
v &lt; v†:  ΔᴬI &gt; 0  →  均衡 = IS
v &gt; v†:  ΔᴬI &lt; 0  →  均衡 = SU
（かつ常に Ŵ(IS) &gt; Ŵ(SU)）
上限: v̄^adm ≈ 0.0756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623560"/>
            <a:ext cx="11612880" cy="777240"/>
          </a:xfrm>
          <a:prstGeom prst="rect">
            <a:avLst/>
          </a:prstGeom>
          <a:solidFill>
            <a:srgbClr val="FEF3E0"/>
          </a:solidFill>
          <a:ln w="12700">
            <a:solidFill>
              <a:srgbClr val="D4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6509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メカニズム: v が大きいほどインストールベースの価値が高まり、
C を排除した A-B ブロック内のネットワーク利益も拡大する。
τ_C が高い状況では、C を加盟させても A-B のネットワーク利益増加は限定的 → 排除が強化される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参加能力の内生化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Stage 0: 能力構築投資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Matsuki (2026) · 参加能力・標準化連合・非効率な国際標準化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9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10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303520" cy="5120640"/>
          </a:xfrm>
          <a:prstGeom prst="rect">
            <a:avLst/>
          </a:prstGeom>
          <a:solidFill>
            <a:srgbClr val="F2F4F7"/>
          </a:solidFill>
          <a:ln w="1524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6B"/>
                </a:solidFill>
              </a:rPr>
              <a:t>Stage 0 の設定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27632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3A6B"/>
                </a:solidFill>
              </a:rPr>
              <a:t>◆  参加能力の内生化</a:t>
            </a:r>
          </a:p>
          <a:p>
            <a:r>
              <a:rPr sz="1500" b="0">
                <a:solidFill>
                  <a:srgbClr val="2E6DB8"/>
                </a:solidFill>
              </a:rPr>
              <a:t>    ▷  θₖ = θ̄ₖ + Iₖ  （Iₖ ∈ [0, 1−θ̄ₖ]）</a:t>
            </a:r>
          </a:p>
          <a:p>
            <a:r>
              <a:rPr sz="1500" b="0">
                <a:solidFill>
                  <a:srgbClr val="2E6DB8"/>
                </a:solidFill>
              </a:rPr>
              <a:t>    ▷  τₖ = τ̄ₖ − μ·Iₖ  （μ &gt; 0）</a:t>
            </a:r>
          </a:p>
          <a:p>
            <a:r>
              <a:rPr sz="800" b="0">
                <a:solidFill>
                  <a:srgbClr val="FFFFFF"/>
                </a:solidFill>
              </a:rPr>
              <a:t>◆  </a:t>
            </a:r>
          </a:p>
          <a:p>
            <a:r>
              <a:rPr sz="1500" b="1">
                <a:solidFill>
                  <a:srgbClr val="1B3A6B"/>
                </a:solidFill>
              </a:rPr>
              <a:t>◆  投資費用: C(Iₖ) = (η/2)·Iₖ²</a:t>
            </a:r>
          </a:p>
          <a:p>
            <a:r>
              <a:rPr sz="1500" b="0">
                <a:solidFill>
                  <a:srgbClr val="555555"/>
                </a:solidFill>
              </a:rPr>
              <a:t>    ▷  政府が適合評価・認証インフラを整備</a:t>
            </a:r>
          </a:p>
          <a:p>
            <a:r>
              <a:rPr sz="800" b="0">
                <a:solidFill>
                  <a:srgbClr val="FFFFFF"/>
                </a:solidFill>
              </a:rPr>
              <a:t>◆  </a:t>
            </a:r>
          </a:p>
          <a:p>
            <a:r>
              <a:rPr sz="1500" b="1">
                <a:solidFill>
                  <a:srgbClr val="1B3A6B"/>
                </a:solidFill>
              </a:rPr>
              <a:t>◆  国民厚生: Wₖ = Ŵₖ(R) − (η/2)·Iₖ²</a:t>
            </a:r>
          </a:p>
          <a:p>
            <a:r>
              <a:rPr sz="1500" b="0">
                <a:solidFill>
                  <a:srgbClr val="555555"/>
                </a:solidFill>
              </a:rPr>
              <a:t>    ▷  Stage 4 以降の均衡から逆算</a:t>
            </a:r>
          </a:p>
          <a:p>
            <a:r>
              <a:rPr sz="800" b="0">
                <a:solidFill>
                  <a:srgbClr val="FFFFFF"/>
                </a:solidFill>
              </a:rPr>
              <a:t>◆  </a:t>
            </a:r>
          </a:p>
          <a:p>
            <a:r>
              <a:rPr sz="1500" b="1">
                <a:solidFill>
                  <a:srgbClr val="1B3A6B"/>
                </a:solidFill>
              </a:rPr>
              <a:t>◆  分析ドメイン: 𝒟'（コンパクト集合）</a:t>
            </a:r>
          </a:p>
          <a:p>
            <a:r>
              <a:rPr sz="1500" b="0">
                <a:solidFill>
                  <a:srgbClr val="555555"/>
                </a:solidFill>
              </a:rPr>
              <a:t>    ▷  単調性が数値検証されたパラメータ領域</a:t>
            </a:r>
          </a:p>
          <a:p>
            <a:r>
              <a:rPr sz="1500" b="0">
                <a:solidFill>
                  <a:srgbClr val="555555"/>
                </a:solidFill>
              </a:rPr>
              <a:t>    ▷  v ∈ [0, 0.055], c ∈ [0.03, 0.06]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097280"/>
            <a:ext cx="6035040" cy="5120640"/>
          </a:xfrm>
          <a:prstGeom prst="rect">
            <a:avLst/>
          </a:prstGeom>
          <a:solidFill>
            <a:srgbClr val="EEF0FF"/>
          </a:solidFill>
          <a:ln w="254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17043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6B"/>
                </a:solidFill>
              </a:rPr>
              <a:t>命題 4: 投資閾値と制度移行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27632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𝒟' 上で τ_C^I(τ) が一意に存在し：
　τ_C &lt; τ_C^I(τ)  →  均衡 = IS
　τ_C &gt; τ_C^I(τ)  →  均衡 = SU
（A・B が C の加盟を受け入れる/拒否する）
直観:
  C 国の τ_C が十分低い（能力が高い）と
  A・B にとって C の加盟は有益
  C 国の Stage 0 投資（Ic 上昇）は
  τ_C を低下させ、IS への移行を促す
注: 結果は 𝒟' 上の局所的な比較静学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主要結果 3: 条件付き移転政策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命題 5: 能力構築支援が断片化を解消する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Matsuki (2026) · 参加能力・標準化連合・非効率な国際標準化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9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11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11612880" cy="1371600"/>
          </a:xfrm>
          <a:prstGeom prst="rect">
            <a:avLst/>
          </a:prstGeom>
          <a:solidFill>
            <a:srgbClr val="EEF7EE"/>
          </a:solidFill>
          <a:ln w="254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7A4A"/>
                </a:solidFill>
              </a:rPr>
              <a:t>命題 5: 条件付き移転政策（𝒟' 上での結果）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727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条件付き移転: s^acc(τ, τ_C) = max{0, τ_C − τ_C^I(τ)}
→ C 国の参加能力が閾値に達した場合のみ発動される移転
→ 𝒟' 上で、IS への移行を回復させるのに十分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06040"/>
            <a:ext cx="3657600" cy="3200400"/>
          </a:xfrm>
          <a:prstGeom prst="rect">
            <a:avLst/>
          </a:prstGeom>
          <a:solidFill>
            <a:srgbClr val="F8F8F8"/>
          </a:solidFill>
          <a:ln w="25400">
            <a:solidFill>
              <a:srgbClr val="BB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606040"/>
            <a:ext cx="3657600" cy="457200"/>
          </a:xfrm>
          <a:prstGeom prst="rect">
            <a:avLst/>
          </a:prstGeom>
          <a:solidFill>
            <a:srgbClr val="BB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63347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国内標準維持政策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SW の促進・国内標準保護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61188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2222"/>
                </a:solidFill>
              </a:rPr>
              <a:t>断片化のボトルネック（τ_C）
を解消しない
→ 非効率な断片化が持続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212080"/>
            <a:ext cx="2743200" cy="457200"/>
          </a:xfrm>
          <a:prstGeom prst="rect">
            <a:avLst/>
          </a:prstGeom>
          <a:solidFill>
            <a:srgbClr val="BB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395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✗ 非効率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606040"/>
            <a:ext cx="3657600" cy="3200400"/>
          </a:xfrm>
          <a:prstGeom prst="rect">
            <a:avLst/>
          </a:prstGeom>
          <a:solidFill>
            <a:srgbClr val="F8F8F8"/>
          </a:solidFill>
          <a:ln w="254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2606040"/>
            <a:ext cx="3657600" cy="4572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263347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能力構築投資支援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C 国の Ic を補助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61188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7A4A"/>
                </a:solidFill>
              </a:rPr>
              <a:t>τ_C を直接低下させる
閾値 τ_C^I(τ) を超えると
IS への移行が回復される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5212080"/>
            <a:ext cx="2743200" cy="4572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52395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✓ 効果的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2606040"/>
            <a:ext cx="3657600" cy="3200400"/>
          </a:xfrm>
          <a:prstGeom prst="rect">
            <a:avLst/>
          </a:prstGeom>
          <a:solidFill>
            <a:srgbClr val="F8F8F8"/>
          </a:solidFill>
          <a:ln w="254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2606040"/>
            <a:ext cx="3657600" cy="4572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263347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条件付き移転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C 加盟後に A・B から補償移転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61188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7A4A"/>
                </a:solidFill>
              </a:rPr>
              <a:t>A・B の加盟受け入れ誘因
を直接補完
閾値設計で無駄な移転を回避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40" y="5212080"/>
            <a:ext cx="2743200" cy="4572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0" y="52395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✓ 効果的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897880"/>
            <a:ext cx="11612880" cy="594360"/>
          </a:xfrm>
          <a:prstGeom prst="rect">
            <a:avLst/>
          </a:prstGeom>
          <a:solidFill>
            <a:srgbClr val="EEF7EE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92531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4A"/>
                </a:solidFill>
              </a:rPr>
              <a:t>政策含意: 非効率な断片化への対処は「形式的加盟」だけでなく「実効的参加能力の向上」が核心
→ ISO/UNIDO の能力構築支援・MRA 枠組みの拡充が理論的に正当化される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均衡制度マップ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参加能力の非対称性が制度選択を決定する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Matsuki (2026) · 参加能力・標準化連合・非効率な国際標準化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9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B3A6B"/>
                </a:solidFill>
              </a:rPr>
              <a:t>（τ_C, τ）平面での均衡制度：A・B の参加能力（τ）と C の参加能力（τ_C）の組み合わせ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1737360"/>
            <a:ext cx="4572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5852160"/>
            <a:ext cx="8686800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5897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→  τ_C（C 国の残余コンプライアンス費用：高いほど参加能力が低い）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645920"/>
            <a:ext cx="1005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↑
τ
（A・B
の費用）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1783080"/>
            <a:ext cx="2286000" cy="4041648"/>
          </a:xfrm>
          <a:prstGeom prst="rect">
            <a:avLst/>
          </a:prstGeom>
          <a:solidFill>
            <a:srgbClr val="CC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03320" y="1783080"/>
            <a:ext cx="3657600" cy="4041648"/>
          </a:xfrm>
          <a:prstGeom prst="rect">
            <a:avLst/>
          </a:prstGeom>
          <a:solidFill>
            <a:srgbClr val="FF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1783080"/>
            <a:ext cx="2697480" cy="4041648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32004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7A4A"/>
                </a:solidFill>
              </a:rPr>
              <a:t>IS
（完全調和）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2004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6A17"/>
                </a:solidFill>
              </a:rPr>
              <a:t>SU
（A-B 排除的連合）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2004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B2222"/>
                </a:solidFill>
              </a:rPr>
              <a:t>SW
（標準戦争）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1783080"/>
            <a:ext cx="45720" cy="40416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0" y="1783080"/>
            <a:ext cx="45720" cy="4041648"/>
          </a:xfrm>
          <a:prstGeom prst="rect">
            <a:avLst/>
          </a:prstGeom>
          <a:solidFill>
            <a:srgbClr val="BB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5577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ΔᴬI =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577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2222"/>
                </a:solidFill>
              </a:rPr>
              <a:t>ΔᴬSU = 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3657600"/>
            <a:ext cx="164592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56048" y="3520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命題 2 のベンチマーク点
(τ_C=0.18, τ=0.02, v=c=0.05)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41280" y="1737360"/>
            <a:ext cx="1737360" cy="4206240"/>
          </a:xfrm>
          <a:prstGeom prst="rect">
            <a:avLst/>
          </a:prstGeom>
          <a:solidFill>
            <a:srgbClr val="F2F4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20" y="1828800"/>
            <a:ext cx="1554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7A4A"/>
                </a:solidFill>
              </a:rPr>
              <a:t>■  IS 領域</a:t>
            </a:r>
          </a:p>
          <a:p>
            <a:r>
              <a:rPr sz="1200" b="0">
                <a:solidFill>
                  <a:srgbClr val="555555"/>
                </a:solidFill>
              </a:rPr>
              <a:t>■  τ_C 小→
C も効果的
に参加</a:t>
            </a:r>
          </a:p>
          <a:p>
            <a:r>
              <a:rPr sz="800" b="0">
                <a:solidFill>
                  <a:srgbClr val="FFFFFF"/>
                </a:solidFill>
              </a:rPr>
              <a:t>■  </a:t>
            </a:r>
          </a:p>
          <a:p>
            <a:r>
              <a:rPr sz="1400" b="1">
                <a:solidFill>
                  <a:srgbClr val="D46A17"/>
                </a:solidFill>
              </a:rPr>
              <a:t>■  SU 領域</a:t>
            </a:r>
          </a:p>
          <a:p>
            <a:r>
              <a:rPr sz="1200" b="0">
                <a:solidFill>
                  <a:srgbClr val="555555"/>
                </a:solidFill>
              </a:rPr>
              <a:t>■  A・B が
C を排除</a:t>
            </a:r>
          </a:p>
          <a:p>
            <a:r>
              <a:rPr sz="800" b="0">
                <a:solidFill>
                  <a:srgbClr val="FFFFFF"/>
                </a:solidFill>
              </a:rPr>
              <a:t>■  </a:t>
            </a:r>
          </a:p>
          <a:p>
            <a:r>
              <a:rPr sz="1400" b="1">
                <a:solidFill>
                  <a:srgbClr val="BB2222"/>
                </a:solidFill>
              </a:rPr>
              <a:t>■  SW 領域</a:t>
            </a:r>
          </a:p>
          <a:p>
            <a:r>
              <a:rPr sz="1200" b="0">
                <a:solidFill>
                  <a:srgbClr val="555555"/>
                </a:solidFill>
              </a:rPr>
              <a:t>■  A・B も
連合せず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メカニズムの要約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なぜ IS が均衡で実現しないのか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Matsuki (2026) · 参加能力・標準化連合・非効率な国際標準化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9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6B"/>
                </a:solidFill>
              </a:rPr>
              <a:t>参加能力の非対称性が引き起こす三重の失敗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11612880" cy="1417320"/>
          </a:xfrm>
          <a:prstGeom prst="rect">
            <a:avLst/>
          </a:prstGeom>
          <a:solidFill>
            <a:srgbClr val="F8F8F8"/>
          </a:solidFill>
          <a:ln w="25400">
            <a:solidFill>
              <a:srgbClr val="BB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137160" cy="1417320"/>
          </a:xfrm>
          <a:prstGeom prst="rect">
            <a:avLst/>
          </a:prstGeom>
          <a:solidFill>
            <a:srgbClr val="BB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7335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B2222"/>
                </a:solidFill>
              </a:rPr>
              <a:t>① C の加盟後の競争圧力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07568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C は加盟しても τ_C &gt; 0 のため競争力が限定的
しかし競争相手として A・B 市場に参入する
→ A・B にとって純競争的圧力が純便益を上回る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154680"/>
            <a:ext cx="11612880" cy="1417320"/>
          </a:xfrm>
          <a:prstGeom prst="rect">
            <a:avLst/>
          </a:prstGeom>
          <a:solidFill>
            <a:srgbClr val="F8F8F8"/>
          </a:solidFill>
          <a:ln w="25400">
            <a:solidFill>
              <a:srgbClr val="D4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154680"/>
            <a:ext cx="137160" cy="1417320"/>
          </a:xfrm>
          <a:prstGeom prst="rect">
            <a:avLst/>
          </a:prstGeom>
          <a:solidFill>
            <a:srgbClr val="D4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2278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6A17"/>
                </a:solidFill>
              </a:rPr>
              <a:t>② インストールベースの弱い貢献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63016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C の市場規模・競争力が低いため
IS 移行後のネットワーク外部性拡大が限定的
→ A・B は IS のネットワーク便益を十分得られない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709160"/>
            <a:ext cx="11612880" cy="1417320"/>
          </a:xfrm>
          <a:prstGeom prst="rect">
            <a:avLst/>
          </a:prstGeom>
          <a:solidFill>
            <a:srgbClr val="F8F8F8"/>
          </a:solidFill>
          <a:ln w="25400">
            <a:solidFill>
              <a:srgbClr val="2E6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709160"/>
            <a:ext cx="137160" cy="1417320"/>
          </a:xfrm>
          <a:prstGeom prst="rect">
            <a:avLst/>
          </a:prstGeom>
          <a:solidFill>
            <a:srgbClr val="2E6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78231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6DB8"/>
                </a:solidFill>
              </a:rPr>
              <a:t>③ ネットワーク効果のパラドックス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8464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v が大きいほど A-B ブロック内のネットワーク価値も大
C を入れても増加分が小さければ現状維持が最適
→ 強いネットワーク効果が排除的連合を強化する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6217920"/>
            <a:ext cx="11612880" cy="594360"/>
          </a:xfrm>
          <a:prstGeom prst="rect">
            <a:avLst/>
          </a:prstGeom>
          <a:solidFill>
            <a:srgbClr val="EEF0FF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2453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結論: 国際標準化の非効率な断片化は、戦略的排除だけでなく
「参加能力の低さ」が生み出す経済的合理性からも発生する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制度的含意と現実との対応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モデルの政策的射程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Matsuki (2026) · 参加能力・標準化連合・非効率な国際標準化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9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6B"/>
                </a:solidFill>
              </a:rPr>
              <a:t>モデルの概念が対応する現実の制度・現象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2560320" cy="411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63677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モデルの概念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600200"/>
            <a:ext cx="4389120" cy="411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63677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現実の対応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600200"/>
            <a:ext cx="4663440" cy="411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163677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政策示唆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039112"/>
            <a:ext cx="2560320" cy="960120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2084832"/>
            <a:ext cx="2414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参加能力 θₖ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2039112"/>
            <a:ext cx="4389120" cy="960120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2084832"/>
            <a:ext cx="42428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テスト・認証・適合評価インフラ
(ISO・IEC 認定機関の有無)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2039112"/>
            <a:ext cx="4663440" cy="960120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8352" y="2084832"/>
            <a:ext cx="451713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能力構築支援（ISO/UNIDO プログラム）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999232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3044952"/>
            <a:ext cx="2414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残余コンプライアンス費用 τₖ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2999232"/>
            <a:ext cx="4389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53512" y="3044952"/>
            <a:ext cx="42428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形式的承認後も残る実装コスト
(途上国の TBT 履行コスト)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2999232"/>
            <a:ext cx="46634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88352" y="3044952"/>
            <a:ext cx="451713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WTO-TBT 枠組みの能力構築条項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959352"/>
            <a:ext cx="2560320" cy="960120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4005072"/>
            <a:ext cx="2414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IS が均衡で失敗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360" y="3959352"/>
            <a:ext cx="4389120" cy="960120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53512" y="4005072"/>
            <a:ext cx="42428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先進国 bloc の形成・途上国排除
(EU 標準優位、ASEAN の断片化)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959352"/>
            <a:ext cx="4663440" cy="960120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88352" y="4005072"/>
            <a:ext cx="451713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一方的承認ではなく能力構築と組み合わせた MRA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919472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4965192"/>
            <a:ext cx="2414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条件付き移転 s^acc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0360" y="4919472"/>
            <a:ext cx="4389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53512" y="4965192"/>
            <a:ext cx="42428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ISO/UNIDO 能力構築プログラム
援助条件付き市場アクセス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4919472"/>
            <a:ext cx="46634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88352" y="4965192"/>
            <a:ext cx="451713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加盟条件として能力向上を要件化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598932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6A17"/>
                </a:solidFill>
              </a:rPr>
              <a:t>重要な留意点: 本稿の政策結論は 𝒟' 上での数値検証済みの条件付き結果であり、一般的命題ではない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本稿の学術的貢献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既存文献に対する三つの付加価値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Matsuki (2026) · 参加能力・標準化連合・非効率な国際標準化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9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15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11612880" cy="1645920"/>
          </a:xfrm>
          <a:prstGeom prst="rect">
            <a:avLst/>
          </a:prstGeom>
          <a:solidFill>
            <a:srgbClr val="F8F8F8"/>
          </a:solidFill>
          <a:ln w="25400">
            <a:solidFill>
              <a:srgbClr val="2E6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164592" cy="1645920"/>
          </a:xfrm>
          <a:prstGeom prst="rect">
            <a:avLst/>
          </a:prstGeom>
          <a:solidFill>
            <a:srgbClr val="2E6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618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6DB8"/>
                </a:solidFill>
              </a:rPr>
              <a:t>互換性文献への貢献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645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先行研究:
Farrell-Saloner (1985)・Katz-Shapiro (1985)
→ 互換性（形式的）と参加（実効的）を同一視
加盟 = 完全コスト消去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325880"/>
            <a:ext cx="73152" cy="1371600"/>
          </a:xfrm>
          <a:prstGeom prst="rect">
            <a:avLst/>
          </a:prstGeom>
          <a:solidFill>
            <a:srgbClr val="2E6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6DB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325880"/>
            <a:ext cx="6949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2618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B8"/>
                </a:solidFill>
              </a:rPr>
              <a:t>本稿の貢献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164592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互換性と参加能力を区別する
残余コンプライアンス費用 τₖ を導入
「加盟しても完全参加できない国」を明示化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17520"/>
            <a:ext cx="11612880" cy="1645920"/>
          </a:xfrm>
          <a:prstGeom prst="rect">
            <a:avLst/>
          </a:prstGeom>
          <a:solidFill>
            <a:srgbClr val="F8F8F8"/>
          </a:solidFill>
          <a:ln w="254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017520"/>
            <a:ext cx="164592" cy="16459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0906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7A4A"/>
                </a:solidFill>
              </a:rPr>
              <a:t>国際標準化文献への貢献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747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先行研究:
Gandal-Shy (2001)・Costinot (2008)・Klimenko (2009)
→ 相互承認・制度設計の効果を分析
ただし参加能力は同質と仮定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154680"/>
            <a:ext cx="73152" cy="13716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7A4A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3154680"/>
            <a:ext cx="6949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3090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4A"/>
                </a:solidFill>
              </a:rPr>
              <a:t>本稿の貢献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47472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参加能力の非対称性により
相互承認後も非効率な排除が持続する
メカニズムを特定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846320"/>
            <a:ext cx="11612880" cy="1645920"/>
          </a:xfrm>
          <a:prstGeom prst="rect">
            <a:avLst/>
          </a:prstGeom>
          <a:solidFill>
            <a:srgbClr val="F8F8F8"/>
          </a:solidFill>
          <a:ln w="25400">
            <a:solidFill>
              <a:srgbClr val="D4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846320"/>
            <a:ext cx="164592" cy="1645920"/>
          </a:xfrm>
          <a:prstGeom prst="rect">
            <a:avLst/>
          </a:prstGeom>
          <a:solidFill>
            <a:srgbClr val="D4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194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6A17"/>
                </a:solidFill>
              </a:rPr>
              <a:t>実証研究との接続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035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先行研究:
Clougherty-Grajek (2014)・Schmidt-Steingress (2022)
Blind et al. (2017, 2022, 2023)
→ 標準化・参加・貿易の実証的事実を蓄積
理論的メカニズムは未解明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4983480"/>
            <a:ext cx="73152" cy="1371600"/>
          </a:xfrm>
          <a:prstGeom prst="rect">
            <a:avLst/>
          </a:prstGeom>
          <a:solidFill>
            <a:srgbClr val="D4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60520" y="5486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46A17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4983480"/>
            <a:ext cx="6949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9194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6A17"/>
                </a:solidFill>
              </a:rPr>
              <a:t>本稿の貢献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530352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参加能力の非対称性が標準化連合の
形成・持続に与える理論的メカニズムを提供
実証研究への橋渡し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三つの主要命題のまとめ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Matsuki (2026) · 参加能力・標準化連合・非効率な国際標準化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9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16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11612880" cy="1508760"/>
          </a:xfrm>
          <a:prstGeom prst="rect">
            <a:avLst/>
          </a:prstGeom>
          <a:solidFill>
            <a:srgbClr val="F8F8F8"/>
          </a:solidFill>
          <a:ln w="25400">
            <a:solidFill>
              <a:srgbClr val="BB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1371600" cy="1508760"/>
          </a:xfrm>
          <a:prstGeom prst="rect">
            <a:avLst/>
          </a:prstGeom>
          <a:solidFill>
            <a:srgbClr val="BB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645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命題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1887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B2222"/>
                </a:solidFill>
              </a:rPr>
              <a:t>IS は世界最適でも均衡で実現しない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737360"/>
            <a:ext cx="9784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参加能力の低い C は IS 後も競争力が弱い
→ A・B にとって C の加盟は競争増加 &gt; ネットワーク便益
→ 私的均衡が非効率な断片化（SU）に帰着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788920"/>
            <a:ext cx="11612880" cy="1508760"/>
          </a:xfrm>
          <a:prstGeom prst="rect">
            <a:avLst/>
          </a:prstGeom>
          <a:solidFill>
            <a:srgbClr val="F8F8F8"/>
          </a:solidFill>
          <a:ln w="25400">
            <a:solidFill>
              <a:srgbClr val="D4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788920"/>
            <a:ext cx="1371600" cy="1508760"/>
          </a:xfrm>
          <a:prstGeom prst="rect">
            <a:avLst/>
          </a:prstGeom>
          <a:solidFill>
            <a:srgbClr val="D4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2918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命題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8346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6A17"/>
                </a:solidFill>
              </a:rPr>
              <a:t>ネットワーク外部性は完全調和を
単調には促進しない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383280"/>
            <a:ext cx="9784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v が大きいほど A-B ブロック内のネットワーク価値が高まる
→ τ_C が高いと C 加盟のメリットが小さい
→ 強いネットワーク効果が排除的 SU を安定化する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434840"/>
            <a:ext cx="11612880" cy="1508760"/>
          </a:xfrm>
          <a:prstGeom prst="rect">
            <a:avLst/>
          </a:prstGeom>
          <a:solidFill>
            <a:srgbClr val="F8F8F8"/>
          </a:solidFill>
          <a:ln w="254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434840"/>
            <a:ext cx="1371600" cy="150876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937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命題 4・5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4805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7A4A"/>
                </a:solidFill>
              </a:rPr>
              <a:t>能力構築投資・条件付き移転が
加盟問題を解消する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029200"/>
            <a:ext cx="9784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τ_C を閾値以下に下げる投資 or 条件付き移転 s^acc
→ A・B の IS 受け入れ誘因を回復
→ 国内標準維持政策よりも能力構築が有効（𝒟' 上での結果）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760720"/>
            <a:ext cx="11612880" cy="640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7881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統合メッセージ: 国際標準化の失敗は戦略的排除だけでなく、「参加能力の非対称性」という経済的構造から発生する。
対処策の核心は形式的承認ではなく実効的参加能力の向上である。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拡張と今後の課題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モデルの限界と研究の方向性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Matsuki (2026) · 参加能力・標準化連合・非効率な国際標準化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9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17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486400" cy="5029200"/>
          </a:xfrm>
          <a:prstGeom prst="rect">
            <a:avLst/>
          </a:prstGeom>
          <a:solidFill>
            <a:srgbClr val="FFF5F5"/>
          </a:solidFill>
          <a:ln w="19050">
            <a:solidFill>
              <a:srgbClr val="BB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161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B2222"/>
                </a:solidFill>
              </a:rPr>
              <a:t>現在の限界・留保事項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73352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B2222"/>
                </a:solidFill>
              </a:rPr>
              <a:t>△  連合形成構造の制約</a:t>
            </a:r>
          </a:p>
          <a:p>
            <a:r>
              <a:rPr sz="1500" b="0">
                <a:solidFill>
                  <a:srgbClr val="555555"/>
                </a:solidFill>
              </a:rPr>
              <a:t>    ▷  A-B 先行の逐次ゲームのみ分析
（C-A、C-B、三者同時は対象外）</a:t>
            </a:r>
          </a:p>
          <a:p>
            <a:r>
              <a:rPr sz="800" b="0">
                <a:solidFill>
                  <a:srgbClr val="FFFFFF"/>
                </a:solidFill>
              </a:rPr>
              <a:t>△  </a:t>
            </a:r>
          </a:p>
          <a:p>
            <a:r>
              <a:rPr sz="1500" b="1">
                <a:solidFill>
                  <a:srgbClr val="BB2222"/>
                </a:solidFill>
              </a:rPr>
              <a:t>△  数値例への依拠</a:t>
            </a:r>
          </a:p>
          <a:p>
            <a:r>
              <a:rPr sz="1500" b="0">
                <a:solidFill>
                  <a:srgbClr val="555555"/>
                </a:solidFill>
              </a:rPr>
              <a:t>    ▷  命題 2・3 は数値例で証明
（一次元区間での補完あり）</a:t>
            </a:r>
          </a:p>
          <a:p>
            <a:r>
              <a:rPr sz="800" b="0">
                <a:solidFill>
                  <a:srgbClr val="FFFFFF"/>
                </a:solidFill>
              </a:rPr>
              <a:t>△  </a:t>
            </a:r>
          </a:p>
          <a:p>
            <a:r>
              <a:rPr sz="1500" b="1">
                <a:solidFill>
                  <a:srgbClr val="BB2222"/>
                </a:solidFill>
              </a:rPr>
              <a:t>△  ドメイン条件</a:t>
            </a:r>
          </a:p>
          <a:p>
            <a:r>
              <a:rPr sz="1500" b="0">
                <a:solidFill>
                  <a:srgbClr val="555555"/>
                </a:solidFill>
              </a:rPr>
              <a:t>    ▷  政策結果は 𝒟' 上の局所的結果
全域的命題ではない</a:t>
            </a:r>
          </a:p>
          <a:p>
            <a:r>
              <a:rPr sz="800" b="0">
                <a:solidFill>
                  <a:srgbClr val="FFFFFF"/>
                </a:solidFill>
              </a:rPr>
              <a:t>△  </a:t>
            </a:r>
          </a:p>
          <a:p>
            <a:r>
              <a:rPr sz="1500" b="1">
                <a:solidFill>
                  <a:srgbClr val="BB2222"/>
                </a:solidFill>
              </a:rPr>
              <a:t>△  静学モデル</a:t>
            </a:r>
          </a:p>
          <a:p>
            <a:r>
              <a:rPr sz="1500" b="0">
                <a:solidFill>
                  <a:srgbClr val="555555"/>
                </a:solidFill>
              </a:rPr>
              <a:t>    ▷  動学的な標準採用・投資の相互作用
は対象外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143000"/>
            <a:ext cx="5852160" cy="5029200"/>
          </a:xfrm>
          <a:prstGeom prst="rect">
            <a:avLst/>
          </a:prstGeom>
          <a:solidFill>
            <a:srgbClr val="EEF7EE"/>
          </a:solidFill>
          <a:ln w="190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2161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4A"/>
                </a:solidFill>
              </a:rPr>
              <a:t>今後の研究方向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673352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7A4A"/>
                </a:solidFill>
              </a:rPr>
              <a:t>◎  連合形成の一般化</a:t>
            </a:r>
          </a:p>
          <a:p>
            <a:r>
              <a:rPr sz="1500" b="0">
                <a:solidFill>
                  <a:srgbClr val="555555"/>
                </a:solidFill>
              </a:rPr>
              <a:t>    ▷  C-A・C-B 連合、三者同時交渉
不均衡二国間 MRA の分析</a:t>
            </a:r>
          </a:p>
          <a:p>
            <a:r>
              <a:rPr sz="800" b="0">
                <a:solidFill>
                  <a:srgbClr val="FFFFFF"/>
                </a:solidFill>
              </a:rPr>
              <a:t>◎  </a:t>
            </a:r>
          </a:p>
          <a:p>
            <a:r>
              <a:rPr sz="1500" b="1">
                <a:solidFill>
                  <a:srgbClr val="1A7A4A"/>
                </a:solidFill>
              </a:rPr>
              <a:t>◎  標準採用の内生化</a:t>
            </a:r>
          </a:p>
          <a:p>
            <a:r>
              <a:rPr sz="1500" b="0">
                <a:solidFill>
                  <a:srgbClr val="555555"/>
                </a:solidFill>
              </a:rPr>
              <a:t>    ▷  企業が国際・国内標準を戦略的に選択
部分的互換性のモデル化</a:t>
            </a:r>
          </a:p>
          <a:p>
            <a:r>
              <a:rPr sz="800" b="0">
                <a:solidFill>
                  <a:srgbClr val="FFFFFF"/>
                </a:solidFill>
              </a:rPr>
              <a:t>◎  </a:t>
            </a:r>
          </a:p>
          <a:p>
            <a:r>
              <a:rPr sz="1500" b="1">
                <a:solidFill>
                  <a:srgbClr val="1A7A4A"/>
                </a:solidFill>
              </a:rPr>
              <a:t>◎  実証的検証</a:t>
            </a:r>
          </a:p>
          <a:p>
            <a:r>
              <a:rPr sz="1500" b="0">
                <a:solidFill>
                  <a:srgbClr val="555555"/>
                </a:solidFill>
              </a:rPr>
              <a:t>    ▷  StanDat (Bjørkholt 2026) 等のデータ
参加能力の指標化・閾値推定</a:t>
            </a:r>
          </a:p>
          <a:p>
            <a:r>
              <a:rPr sz="800" b="0">
                <a:solidFill>
                  <a:srgbClr val="FFFFFF"/>
                </a:solidFill>
              </a:rPr>
              <a:t>◎  </a:t>
            </a:r>
          </a:p>
          <a:p>
            <a:r>
              <a:rPr sz="1500" b="1">
                <a:solidFill>
                  <a:srgbClr val="1A7A4A"/>
                </a:solidFill>
              </a:rPr>
              <a:t>◎  動学・学習モデル</a:t>
            </a:r>
          </a:p>
          <a:p>
            <a:r>
              <a:rPr sz="1500" b="0">
                <a:solidFill>
                  <a:srgbClr val="555555"/>
                </a:solidFill>
              </a:rPr>
              <a:t>    ▷  能力構築の時間パスと制度選択の
動学的相互作用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主要参考文献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Matsuki (2026) · 参加能力・標準化連合・非効率な国際標準化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9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18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0972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互換性・国際標準化・連合形成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実証研究・制度資料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● Farrell &amp; Saloner (1985) RAND Journal of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116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● Katz &amp; Shapiro (1985, 1986) AER / JPE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146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● Gandal &amp; Shy (2001) J. of International Economics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0175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● Barrett &amp; Yang (2001) J. of International Economics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5204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● Costinot (2008) J. of International Economics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0233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● Klimenko (2009) Int'l Review of Economics &amp; Finance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262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● Riezman (1985) J. of International Economics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0292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● Krishna (1998) Quarterly Journal of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321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● David &amp; Greenstein (1990) Economics of Innovation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5087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● Matutes &amp; Regibeau (1996) European Journal of Political Economy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0116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● Clougherty &amp; Grajek (2014) IJIO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5146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● Schmidt &amp; Steingress (2022) J. of International Economics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0175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● Blind et al. (2017) Research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5204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● Blind &amp; Von Laer (2022) J. of Technology Transfer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0233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● Blind et al. (2023) Research Policy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5262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● Blind &amp; Münch (2024) J. of Cleaner Production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0292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● Wang &amp; Zhu (2025) Economic Analysis and Policy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5321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● Bjørkholt (2026) Political Science Research and Methods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60350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● ISO &amp; UNIDO (2010); WTO (2024) — 制度資料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6172200"/>
            <a:ext cx="6675120" cy="411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0" y="6199632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松木 遼太　ryota.matsuki@gmail.com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